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Raleway" pitchFamily="2" charset="77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b14624b49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b14624b49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b14624b49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b14624b49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b14624b49_0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b14624b49_0_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c2a29a83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c2a29a83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c21113ad8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c21113ad8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c21113ad8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cc21113ad8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b14624b49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b14624b49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b14624b49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b14624b49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c2a29a83a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c2a29a83a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c2a29a83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c2a29a83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c2a29a83a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c2a29a83a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c21113ad8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c21113ad8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c21113ad8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c21113ad8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c21113ad8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c21113ad8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c21113ad8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c21113ad8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c21113ad8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cc21113ad8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c21113ad8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cc21113ad8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c2a29a83a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cc2a29a83a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818984" y="1233425"/>
            <a:ext cx="6907716" cy="1509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de" dirty="0" err="1"/>
              <a:t>Eniac</a:t>
            </a:r>
            <a:r>
              <a:rPr lang="de" dirty="0"/>
              <a:t> - Discount </a:t>
            </a:r>
            <a:r>
              <a:rPr lang="de" dirty="0" err="1"/>
              <a:t>Strategy</a:t>
            </a:r>
            <a:r>
              <a:rPr lang="de" dirty="0"/>
              <a:t> Impact Analysis </a:t>
            </a:r>
            <a:br>
              <a:rPr lang="de" dirty="0"/>
            </a:br>
            <a:br>
              <a:rPr lang="de" dirty="0"/>
            </a:br>
            <a:br>
              <a:rPr lang="de" dirty="0"/>
            </a:br>
            <a:r>
              <a:rPr lang="de" sz="2222" dirty="0">
                <a:solidFill>
                  <a:schemeClr val="accent1"/>
                </a:solidFill>
              </a:rPr>
              <a:t>A </a:t>
            </a:r>
            <a:r>
              <a:rPr lang="de" sz="2222" dirty="0" err="1">
                <a:solidFill>
                  <a:schemeClr val="accent1"/>
                </a:solidFill>
              </a:rPr>
              <a:t>new</a:t>
            </a:r>
            <a:r>
              <a:rPr lang="de" sz="2222" dirty="0">
                <a:solidFill>
                  <a:schemeClr val="accent1"/>
                </a:solidFill>
              </a:rPr>
              <a:t> </a:t>
            </a:r>
            <a:r>
              <a:rPr lang="de" sz="2222" dirty="0" err="1">
                <a:solidFill>
                  <a:schemeClr val="accent1"/>
                </a:solidFill>
              </a:rPr>
              <a:t>discount</a:t>
            </a:r>
            <a:r>
              <a:rPr lang="de" sz="2222" dirty="0">
                <a:solidFill>
                  <a:schemeClr val="accent1"/>
                </a:solidFill>
              </a:rPr>
              <a:t> </a:t>
            </a:r>
            <a:r>
              <a:rPr lang="de" sz="2222" dirty="0" err="1">
                <a:solidFill>
                  <a:schemeClr val="accent1"/>
                </a:solidFill>
              </a:rPr>
              <a:t>strategy</a:t>
            </a:r>
            <a:r>
              <a:rPr lang="de" sz="2222" dirty="0">
                <a:solidFill>
                  <a:schemeClr val="accent1"/>
                </a:solidFill>
              </a:rPr>
              <a:t> </a:t>
            </a:r>
            <a:r>
              <a:rPr lang="de" sz="2222" dirty="0" err="1">
                <a:solidFill>
                  <a:schemeClr val="accent1"/>
                </a:solidFill>
              </a:rPr>
              <a:t>for</a:t>
            </a:r>
            <a:r>
              <a:rPr lang="de" sz="2222" dirty="0">
                <a:solidFill>
                  <a:schemeClr val="accent1"/>
                </a:solidFill>
              </a:rPr>
              <a:t> </a:t>
            </a:r>
            <a:r>
              <a:rPr lang="de" sz="2222" dirty="0" err="1">
                <a:solidFill>
                  <a:schemeClr val="accent1"/>
                </a:solidFill>
              </a:rPr>
              <a:t>the</a:t>
            </a:r>
            <a:r>
              <a:rPr lang="de" sz="2222" dirty="0">
                <a:solidFill>
                  <a:schemeClr val="accent1"/>
                </a:solidFill>
              </a:rPr>
              <a:t> </a:t>
            </a:r>
            <a:r>
              <a:rPr lang="de" sz="2222" dirty="0" err="1">
                <a:solidFill>
                  <a:schemeClr val="accent1"/>
                </a:solidFill>
              </a:rPr>
              <a:t>future</a:t>
            </a:r>
            <a:endParaRPr sz="2222" dirty="0">
              <a:solidFill>
                <a:schemeClr val="accent1"/>
              </a:solidFill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818984" y="3983975"/>
            <a:ext cx="7597068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An Analysis </a:t>
            </a:r>
            <a:r>
              <a:rPr lang="de" dirty="0" err="1"/>
              <a:t>by</a:t>
            </a:r>
            <a:r>
              <a:rPr lang="de" dirty="0"/>
              <a:t> Yannick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727650" y="1316450"/>
            <a:ext cx="8341500" cy="34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300" dirty="0" err="1">
                <a:solidFill>
                  <a:srgbClr val="595959"/>
                </a:solidFill>
              </a:rPr>
              <a:t>Currently</a:t>
            </a:r>
            <a:r>
              <a:rPr lang="de" sz="2300" dirty="0">
                <a:solidFill>
                  <a:srgbClr val="595959"/>
                </a:solidFill>
              </a:rPr>
              <a:t> </a:t>
            </a:r>
            <a:r>
              <a:rPr lang="de" sz="2300" dirty="0" err="1">
                <a:solidFill>
                  <a:srgbClr val="595959"/>
                </a:solidFill>
              </a:rPr>
              <a:t>we</a:t>
            </a:r>
            <a:r>
              <a:rPr lang="de" sz="2300" dirty="0">
                <a:solidFill>
                  <a:srgbClr val="595959"/>
                </a:solidFill>
              </a:rPr>
              <a:t> do not </a:t>
            </a:r>
            <a:r>
              <a:rPr lang="de" sz="2300" dirty="0" err="1">
                <a:solidFill>
                  <a:srgbClr val="595959"/>
                </a:solidFill>
              </a:rPr>
              <a:t>see</a:t>
            </a:r>
            <a:r>
              <a:rPr lang="de" sz="2300" dirty="0">
                <a:solidFill>
                  <a:srgbClr val="595959"/>
                </a:solidFill>
              </a:rPr>
              <a:t> a </a:t>
            </a:r>
            <a:r>
              <a:rPr lang="de" sz="2300" dirty="0" err="1">
                <a:solidFill>
                  <a:schemeClr val="accent3"/>
                </a:solidFill>
              </a:rPr>
              <a:t>clear</a:t>
            </a:r>
            <a:r>
              <a:rPr lang="de" sz="2300" dirty="0">
                <a:solidFill>
                  <a:schemeClr val="accent3"/>
                </a:solidFill>
              </a:rPr>
              <a:t> </a:t>
            </a:r>
            <a:r>
              <a:rPr lang="de" sz="2300" dirty="0">
                <a:solidFill>
                  <a:srgbClr val="595959"/>
                </a:solidFill>
              </a:rPr>
              <a:t>&amp; </a:t>
            </a:r>
            <a:r>
              <a:rPr lang="de" sz="2300" dirty="0" err="1">
                <a:solidFill>
                  <a:schemeClr val="accent3"/>
                </a:solidFill>
              </a:rPr>
              <a:t>effective</a:t>
            </a:r>
            <a:r>
              <a:rPr lang="de" sz="2300" dirty="0">
                <a:solidFill>
                  <a:schemeClr val="accent3"/>
                </a:solidFill>
              </a:rPr>
              <a:t> </a:t>
            </a:r>
            <a:r>
              <a:rPr lang="de" sz="2300" dirty="0" err="1">
                <a:solidFill>
                  <a:srgbClr val="595959"/>
                </a:solidFill>
              </a:rPr>
              <a:t>discount</a:t>
            </a:r>
            <a:r>
              <a:rPr lang="de" sz="2300" dirty="0">
                <a:solidFill>
                  <a:srgbClr val="595959"/>
                </a:solidFill>
              </a:rPr>
              <a:t> </a:t>
            </a:r>
            <a:r>
              <a:rPr lang="de" sz="2300" dirty="0" err="1">
                <a:solidFill>
                  <a:srgbClr val="595959"/>
                </a:solidFill>
              </a:rPr>
              <a:t>strategy</a:t>
            </a:r>
            <a:r>
              <a:rPr lang="de" sz="2300" dirty="0">
                <a:solidFill>
                  <a:srgbClr val="595959"/>
                </a:solidFill>
              </a:rPr>
              <a:t>.</a:t>
            </a:r>
            <a:endParaRPr sz="2300" dirty="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dk2"/>
              </a:solidFill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Char char="●"/>
            </a:pPr>
            <a:r>
              <a:rPr lang="de" sz="2300" dirty="0">
                <a:solidFill>
                  <a:srgbClr val="595959"/>
                </a:solidFill>
              </a:rPr>
              <a:t>Revenue </a:t>
            </a:r>
            <a:r>
              <a:rPr lang="de" sz="2300" dirty="0" err="1">
                <a:solidFill>
                  <a:srgbClr val="595959"/>
                </a:solidFill>
              </a:rPr>
              <a:t>is</a:t>
            </a:r>
            <a:r>
              <a:rPr lang="de" sz="2300" dirty="0">
                <a:solidFill>
                  <a:srgbClr val="595959"/>
                </a:solidFill>
              </a:rPr>
              <a:t> </a:t>
            </a:r>
            <a:r>
              <a:rPr lang="de" sz="2300" dirty="0" err="1">
                <a:solidFill>
                  <a:srgbClr val="595959"/>
                </a:solidFill>
              </a:rPr>
              <a:t>strongly</a:t>
            </a:r>
            <a:r>
              <a:rPr lang="de" sz="2300" dirty="0">
                <a:solidFill>
                  <a:srgbClr val="595959"/>
                </a:solidFill>
              </a:rPr>
              <a:t> </a:t>
            </a:r>
            <a:r>
              <a:rPr lang="de" sz="2300" dirty="0" err="1">
                <a:solidFill>
                  <a:srgbClr val="595959"/>
                </a:solidFill>
              </a:rPr>
              <a:t>affected</a:t>
            </a:r>
            <a:r>
              <a:rPr lang="de" sz="2300" dirty="0">
                <a:solidFill>
                  <a:srgbClr val="595959"/>
                </a:solidFill>
              </a:rPr>
              <a:t> </a:t>
            </a:r>
            <a:r>
              <a:rPr lang="de" sz="2300" dirty="0" err="1">
                <a:solidFill>
                  <a:srgbClr val="595959"/>
                </a:solidFill>
              </a:rPr>
              <a:t>by</a:t>
            </a:r>
            <a:r>
              <a:rPr lang="de" sz="2300" dirty="0">
                <a:solidFill>
                  <a:srgbClr val="595959"/>
                </a:solidFill>
              </a:rPr>
              <a:t> </a:t>
            </a:r>
            <a:r>
              <a:rPr lang="de" sz="2300" dirty="0" err="1">
                <a:solidFill>
                  <a:schemeClr val="accent3"/>
                </a:solidFill>
              </a:rPr>
              <a:t>seasonality</a:t>
            </a:r>
            <a:br>
              <a:rPr lang="de" sz="2300" dirty="0">
                <a:solidFill>
                  <a:schemeClr val="accent3"/>
                </a:solidFill>
              </a:rPr>
            </a:br>
            <a:endParaRPr sz="2300" dirty="0">
              <a:solidFill>
                <a:schemeClr val="accent3"/>
              </a:solidFill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Char char="●"/>
            </a:pPr>
            <a:r>
              <a:rPr lang="de" sz="2300" dirty="0">
                <a:solidFill>
                  <a:srgbClr val="595959"/>
                </a:solidFill>
              </a:rPr>
              <a:t>Discounts do not </a:t>
            </a:r>
            <a:r>
              <a:rPr lang="de" sz="2300" dirty="0" err="1">
                <a:solidFill>
                  <a:srgbClr val="595959"/>
                </a:solidFill>
              </a:rPr>
              <a:t>align</a:t>
            </a:r>
            <a:r>
              <a:rPr lang="de" sz="2300" dirty="0">
                <a:solidFill>
                  <a:srgbClr val="595959"/>
                </a:solidFill>
              </a:rPr>
              <a:t> </a:t>
            </a:r>
            <a:r>
              <a:rPr lang="de" sz="2300" dirty="0" err="1">
                <a:solidFill>
                  <a:srgbClr val="595959"/>
                </a:solidFill>
              </a:rPr>
              <a:t>to</a:t>
            </a:r>
            <a:r>
              <a:rPr lang="de" sz="2300" dirty="0">
                <a:solidFill>
                  <a:srgbClr val="595959"/>
                </a:solidFill>
              </a:rPr>
              <a:t> </a:t>
            </a:r>
            <a:r>
              <a:rPr lang="de" sz="2300" dirty="0" err="1">
                <a:solidFill>
                  <a:schemeClr val="accent3"/>
                </a:solidFill>
              </a:rPr>
              <a:t>seasonal</a:t>
            </a:r>
            <a:r>
              <a:rPr lang="de" sz="2300" dirty="0">
                <a:solidFill>
                  <a:schemeClr val="accent3"/>
                </a:solidFill>
              </a:rPr>
              <a:t> </a:t>
            </a:r>
            <a:r>
              <a:rPr lang="de" sz="2300" dirty="0" err="1">
                <a:solidFill>
                  <a:schemeClr val="accent3"/>
                </a:solidFill>
              </a:rPr>
              <a:t>events</a:t>
            </a:r>
            <a:br>
              <a:rPr lang="de" sz="2300" dirty="0">
                <a:solidFill>
                  <a:srgbClr val="595959"/>
                </a:solidFill>
              </a:rPr>
            </a:br>
            <a:endParaRPr sz="2300" dirty="0">
              <a:solidFill>
                <a:srgbClr val="595959"/>
              </a:solidFill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Font typeface="Raleway"/>
              <a:buChar char="●"/>
            </a:pPr>
            <a:r>
              <a:rPr lang="de" sz="2300" dirty="0">
                <a:solidFill>
                  <a:srgbClr val="595959"/>
                </a:solidFill>
              </a:rPr>
              <a:t>This </a:t>
            </a:r>
            <a:r>
              <a:rPr lang="de" sz="2300" dirty="0" err="1">
                <a:solidFill>
                  <a:srgbClr val="595959"/>
                </a:solidFill>
              </a:rPr>
              <a:t>is</a:t>
            </a:r>
            <a:r>
              <a:rPr lang="de" sz="2300" dirty="0">
                <a:solidFill>
                  <a:srgbClr val="595959"/>
                </a:solidFill>
              </a:rPr>
              <a:t> </a:t>
            </a:r>
            <a:r>
              <a:rPr lang="de" sz="2300" dirty="0" err="1">
                <a:solidFill>
                  <a:srgbClr val="595959"/>
                </a:solidFill>
              </a:rPr>
              <a:t>potentially</a:t>
            </a:r>
            <a:r>
              <a:rPr lang="de" sz="2300" dirty="0">
                <a:solidFill>
                  <a:srgbClr val="595959"/>
                </a:solidFill>
              </a:rPr>
              <a:t> a lost </a:t>
            </a:r>
            <a:r>
              <a:rPr lang="de" sz="2300" dirty="0" err="1">
                <a:solidFill>
                  <a:srgbClr val="595959"/>
                </a:solidFill>
              </a:rPr>
              <a:t>opportunity</a:t>
            </a:r>
            <a:r>
              <a:rPr lang="de" sz="2300" dirty="0">
                <a:solidFill>
                  <a:srgbClr val="595959"/>
                </a:solidFill>
              </a:rPr>
              <a:t> </a:t>
            </a:r>
            <a:r>
              <a:rPr lang="de" sz="2300" dirty="0" err="1">
                <a:solidFill>
                  <a:srgbClr val="595959"/>
                </a:solidFill>
              </a:rPr>
              <a:t>for</a:t>
            </a:r>
            <a:r>
              <a:rPr lang="de" sz="2300" dirty="0">
                <a:solidFill>
                  <a:srgbClr val="595959"/>
                </a:solidFill>
              </a:rPr>
              <a:t> </a:t>
            </a:r>
            <a:r>
              <a:rPr lang="de" sz="2300" dirty="0" err="1">
                <a:solidFill>
                  <a:srgbClr val="595959"/>
                </a:solidFill>
              </a:rPr>
              <a:t>our</a:t>
            </a:r>
            <a:r>
              <a:rPr lang="de" sz="2300" dirty="0">
                <a:solidFill>
                  <a:srgbClr val="595959"/>
                </a:solidFill>
              </a:rPr>
              <a:t> </a:t>
            </a:r>
            <a:r>
              <a:rPr lang="de" sz="2300" dirty="0" err="1">
                <a:solidFill>
                  <a:srgbClr val="595959"/>
                </a:solidFill>
              </a:rPr>
              <a:t>goals</a:t>
            </a:r>
            <a:r>
              <a:rPr lang="de" sz="2300" dirty="0">
                <a:solidFill>
                  <a:srgbClr val="595959"/>
                </a:solidFill>
              </a:rPr>
              <a:t> </a:t>
            </a:r>
            <a:r>
              <a:rPr lang="de" sz="2300" dirty="0" err="1">
                <a:solidFill>
                  <a:srgbClr val="595959"/>
                </a:solidFill>
              </a:rPr>
              <a:t>of</a:t>
            </a:r>
            <a:r>
              <a:rPr lang="de" sz="2300" dirty="0">
                <a:solidFill>
                  <a:schemeClr val="dk2"/>
                </a:solidFill>
              </a:rPr>
              <a:t> </a:t>
            </a:r>
            <a:r>
              <a:rPr lang="de" sz="2300" dirty="0" err="1">
                <a:solidFill>
                  <a:srgbClr val="EB5600"/>
                </a:solidFill>
              </a:rPr>
              <a:t>customer</a:t>
            </a:r>
            <a:r>
              <a:rPr lang="de" sz="2300" dirty="0">
                <a:solidFill>
                  <a:srgbClr val="EB5600"/>
                </a:solidFill>
              </a:rPr>
              <a:t> </a:t>
            </a:r>
            <a:r>
              <a:rPr lang="de" sz="2300" dirty="0" err="1">
                <a:solidFill>
                  <a:srgbClr val="EB5600"/>
                </a:solidFill>
              </a:rPr>
              <a:t>acquisition</a:t>
            </a:r>
            <a:r>
              <a:rPr lang="de" sz="2300" dirty="0">
                <a:solidFill>
                  <a:srgbClr val="595959"/>
                </a:solidFill>
              </a:rPr>
              <a:t>,</a:t>
            </a:r>
            <a:r>
              <a:rPr lang="de" sz="2300" dirty="0">
                <a:solidFill>
                  <a:schemeClr val="dk2"/>
                </a:solidFill>
              </a:rPr>
              <a:t> </a:t>
            </a:r>
            <a:r>
              <a:rPr lang="de" sz="2300" dirty="0" err="1">
                <a:solidFill>
                  <a:srgbClr val="EB5600"/>
                </a:solidFill>
              </a:rPr>
              <a:t>satisfaction</a:t>
            </a:r>
            <a:r>
              <a:rPr lang="de" sz="2300" dirty="0">
                <a:solidFill>
                  <a:srgbClr val="EB5600"/>
                </a:solidFill>
              </a:rPr>
              <a:t> </a:t>
            </a:r>
            <a:r>
              <a:rPr lang="de" sz="2300" dirty="0">
                <a:solidFill>
                  <a:srgbClr val="595959"/>
                </a:solidFill>
              </a:rPr>
              <a:t>and </a:t>
            </a:r>
            <a:r>
              <a:rPr lang="de" sz="2300" dirty="0" err="1">
                <a:solidFill>
                  <a:srgbClr val="EB5600"/>
                </a:solidFill>
              </a:rPr>
              <a:t>retention</a:t>
            </a:r>
            <a:endParaRPr sz="2600" dirty="0">
              <a:solidFill>
                <a:srgbClr val="EB5600"/>
              </a:solidFill>
            </a:endParaRPr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27650" y="5970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2540" dirty="0"/>
              <a:t>My </a:t>
            </a:r>
            <a:r>
              <a:rPr lang="de" sz="2540" dirty="0" err="1"/>
              <a:t>findings</a:t>
            </a:r>
            <a:endParaRPr sz="25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93900" y="0"/>
            <a:ext cx="89562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de" sz="1840"/>
              <a:t>Current strategy shows no strong correlation between discounts and revenue</a:t>
            </a:r>
            <a:endParaRPr sz="1840"/>
          </a:p>
        </p:txBody>
      </p:sp>
      <p:pic>
        <p:nvPicPr>
          <p:cNvPr id="99" name="Google Shape;99;p15" title="Comparison_revenue_discou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700" y="487825"/>
            <a:ext cx="7513677" cy="465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6850" y="0"/>
            <a:ext cx="88452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Seasonal Discounts have a huge potential for user growth</a:t>
            </a:r>
            <a:endParaRPr/>
          </a:p>
        </p:txBody>
      </p:sp>
      <p:pic>
        <p:nvPicPr>
          <p:cNvPr id="105" name="Google Shape;105;p16" title="Comparison_revenue_discou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575" y="535200"/>
            <a:ext cx="7437204" cy="460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1178250" y="1597175"/>
            <a:ext cx="2407500" cy="2304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7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We do not use seasonal events to significantly increase discounts, but we still saw a huge increase in revenue around the time of Black Friday and Singles Day</a:t>
            </a:r>
            <a:endParaRPr sz="17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4772625" y="859175"/>
            <a:ext cx="1195500" cy="3628500"/>
          </a:xfrm>
          <a:prstGeom prst="rect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08" name="Google Shape;108;p16"/>
          <p:cNvCxnSpPr>
            <a:stCxn id="106" idx="3"/>
            <a:endCxn id="107" idx="1"/>
          </p:cNvCxnSpPr>
          <p:nvPr/>
        </p:nvCxnSpPr>
        <p:spPr>
          <a:xfrm rot="10800000" flipH="1">
            <a:off x="3585750" y="2673575"/>
            <a:ext cx="1186800" cy="75900"/>
          </a:xfrm>
          <a:prstGeom prst="straightConnector1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685900" y="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The </a:t>
            </a:r>
            <a:r>
              <a:rPr lang="de" dirty="0" err="1"/>
              <a:t>main</a:t>
            </a:r>
            <a:r>
              <a:rPr lang="de" dirty="0"/>
              <a:t> </a:t>
            </a:r>
            <a:r>
              <a:rPr lang="de" dirty="0" err="1"/>
              <a:t>revenue</a:t>
            </a:r>
            <a:r>
              <a:rPr lang="de" dirty="0"/>
              <a:t> </a:t>
            </a:r>
            <a:r>
              <a:rPr lang="de" dirty="0" err="1"/>
              <a:t>driver</a:t>
            </a:r>
            <a:r>
              <a:rPr lang="de" dirty="0"/>
              <a:t> </a:t>
            </a:r>
            <a:r>
              <a:rPr lang="de" dirty="0" err="1"/>
              <a:t>is</a:t>
            </a:r>
            <a:r>
              <a:rPr lang="de" dirty="0"/>
              <a:t> premium Apple </a:t>
            </a:r>
            <a:r>
              <a:rPr lang="de" dirty="0" err="1"/>
              <a:t>products</a:t>
            </a:r>
            <a:endParaRPr dirty="0"/>
          </a:p>
        </p:txBody>
      </p:sp>
      <p:pic>
        <p:nvPicPr>
          <p:cNvPr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525" y="589100"/>
            <a:ext cx="7657590" cy="455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0325" y="4547900"/>
            <a:ext cx="1066800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title"/>
          </p:nvPr>
        </p:nvSpPr>
        <p:spPr>
          <a:xfrm>
            <a:off x="1113600" y="0"/>
            <a:ext cx="6920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Premium products do not need high discounts</a:t>
            </a:r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2" name="Google Shape;122;p18" title="Weekly_revenue_x_avg_discount_by_category.png"/>
          <p:cNvPicPr preferRelativeResize="0"/>
          <p:nvPr/>
        </p:nvPicPr>
        <p:blipFill rotWithShape="1">
          <a:blip r:embed="rId3">
            <a:alphaModFix/>
          </a:blip>
          <a:srcRect r="50000" b="80081"/>
          <a:stretch/>
        </p:blipFill>
        <p:spPr>
          <a:xfrm>
            <a:off x="19700" y="905000"/>
            <a:ext cx="9108198" cy="362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xfrm>
            <a:off x="486600" y="0"/>
            <a:ext cx="81708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Lower price categories are ideal for discounts and sales</a:t>
            </a:r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9" name="Google Shape;129;p19" title="Weekly_sales_x_avg_discount_by_category.png"/>
          <p:cNvPicPr preferRelativeResize="0"/>
          <p:nvPr/>
        </p:nvPicPr>
        <p:blipFill rotWithShape="1">
          <a:blip r:embed="rId3">
            <a:alphaModFix/>
          </a:blip>
          <a:srcRect l="50000" t="19757" b="59580"/>
          <a:stretch/>
        </p:blipFill>
        <p:spPr>
          <a:xfrm>
            <a:off x="56625" y="819625"/>
            <a:ext cx="9034342" cy="3733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>
            <a:spLocks noGrp="1"/>
          </p:cNvSpPr>
          <p:nvPr>
            <p:ph type="title"/>
          </p:nvPr>
        </p:nvSpPr>
        <p:spPr>
          <a:xfrm>
            <a:off x="509975" y="524050"/>
            <a:ext cx="82665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 err="1"/>
              <a:t>Suggesting</a:t>
            </a:r>
            <a:r>
              <a:rPr lang="de" dirty="0"/>
              <a:t> a </a:t>
            </a:r>
            <a:r>
              <a:rPr lang="de" dirty="0" err="1"/>
              <a:t>new</a:t>
            </a:r>
            <a:r>
              <a:rPr lang="de" dirty="0"/>
              <a:t> </a:t>
            </a:r>
            <a:r>
              <a:rPr lang="de" dirty="0" err="1"/>
              <a:t>discount</a:t>
            </a:r>
            <a:r>
              <a:rPr lang="de" dirty="0"/>
              <a:t> </a:t>
            </a:r>
            <a:r>
              <a:rPr lang="de" dirty="0" err="1"/>
              <a:t>strategy</a:t>
            </a:r>
            <a:r>
              <a:rPr lang="de" dirty="0"/>
              <a:t> </a:t>
            </a:r>
            <a:r>
              <a:rPr lang="de" dirty="0" err="1"/>
              <a:t>for</a:t>
            </a:r>
            <a:r>
              <a:rPr lang="de" dirty="0"/>
              <a:t> ENIAC</a:t>
            </a:r>
            <a:endParaRPr dirty="0"/>
          </a:p>
        </p:txBody>
      </p:sp>
      <p:sp>
        <p:nvSpPr>
          <p:cNvPr id="135" name="Google Shape;135;p20"/>
          <p:cNvSpPr txBox="1"/>
          <p:nvPr/>
        </p:nvSpPr>
        <p:spPr>
          <a:xfrm>
            <a:off x="401275" y="1246625"/>
            <a:ext cx="4170600" cy="37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8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Current</a:t>
            </a:r>
            <a:r>
              <a:rPr lang="de" sz="18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strategy</a:t>
            </a:r>
            <a:endParaRPr sz="18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Lato"/>
              <a:buChar char="●"/>
            </a:pPr>
            <a:r>
              <a:rPr lang="de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92.3%</a:t>
            </a:r>
            <a:r>
              <a:rPr lang="de" sz="1800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of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the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sold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items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in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our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database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were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being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discounted</a:t>
            </a:r>
            <a:endParaRPr sz="1800" dirty="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We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offer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an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average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of</a:t>
            </a:r>
            <a:r>
              <a:rPr lang="de" sz="1800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22.49%</a:t>
            </a:r>
            <a:r>
              <a:rPr lang="de" sz="1800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on</a:t>
            </a:r>
            <a:r>
              <a:rPr lang="de" sz="1800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products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in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our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database</a:t>
            </a:r>
            <a:endParaRPr sz="1800" dirty="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Spike in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sales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around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Black Friday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2017 </a:t>
            </a:r>
            <a:endParaRPr sz="1800" dirty="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Lato"/>
              <a:buChar char="●"/>
            </a:pP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But NO</a:t>
            </a:r>
            <a:r>
              <a:rPr lang="de" sz="1800" dirty="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sustainable</a:t>
            </a:r>
            <a:r>
              <a:rPr lang="de" sz="18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growth</a:t>
            </a:r>
            <a:r>
              <a:rPr lang="de" sz="1800" dirty="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of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revenue</a:t>
            </a:r>
            <a:r>
              <a:rPr lang="de" sz="1800" dirty="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after </a:t>
            </a:r>
            <a:r>
              <a:rPr lang="de" sz="1800" dirty="0" err="1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that</a:t>
            </a:r>
            <a:endParaRPr sz="1800" dirty="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4482350" y="1255050"/>
            <a:ext cx="4559100" cy="3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800" b="1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New Strategy</a:t>
            </a:r>
            <a:endParaRPr b="1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23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790"/>
              <a:buChar char="●"/>
            </a:pPr>
            <a:r>
              <a:rPr lang="de" sz="1789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Strategic use of seasonal sales:</a:t>
            </a:r>
            <a:r>
              <a:rPr lang="de" sz="1789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789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Black Friday, Singles Day, Back-to-School</a:t>
            </a:r>
            <a:endParaRPr sz="1789">
              <a:solidFill>
                <a:srgbClr val="EB5600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2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90"/>
              <a:buChar char="●"/>
            </a:pPr>
            <a:r>
              <a:rPr lang="de" sz="1789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Use of</a:t>
            </a:r>
            <a:r>
              <a:rPr lang="de" sz="1789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789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Bundle Sales</a:t>
            </a:r>
            <a:r>
              <a:rPr lang="de" sz="1789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de" sz="1789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Selling high value </a:t>
            </a:r>
            <a:r>
              <a:rPr lang="de" sz="1789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tech</a:t>
            </a:r>
            <a:r>
              <a:rPr lang="de" sz="1789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789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products</a:t>
            </a:r>
            <a:r>
              <a:rPr lang="de" sz="1789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789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along </a:t>
            </a:r>
            <a:r>
              <a:rPr lang="de" sz="1789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with</a:t>
            </a:r>
            <a:r>
              <a:rPr lang="de" sz="1789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789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accessories</a:t>
            </a:r>
            <a:r>
              <a:rPr lang="de" sz="1789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de" sz="1789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we can bundle them together in sales</a:t>
            </a:r>
            <a:endParaRPr sz="1789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4223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90"/>
              <a:buFont typeface="Lato"/>
              <a:buChar char="●"/>
            </a:pPr>
            <a:r>
              <a:rPr lang="de" sz="1789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Achieve</a:t>
            </a:r>
            <a:r>
              <a:rPr lang="de" sz="1789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789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sustainable</a:t>
            </a:r>
            <a:r>
              <a:rPr lang="de" sz="1789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789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&amp;</a:t>
            </a:r>
            <a:r>
              <a:rPr lang="de" sz="1789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789">
                <a:solidFill>
                  <a:srgbClr val="EB5600"/>
                </a:solidFill>
                <a:latin typeface="Lato"/>
                <a:ea typeface="Lato"/>
                <a:cs typeface="Lato"/>
                <a:sym typeface="Lato"/>
              </a:rPr>
              <a:t>consistent</a:t>
            </a:r>
            <a:r>
              <a:rPr lang="de" sz="1789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789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growth over time</a:t>
            </a:r>
            <a:endParaRPr sz="1789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7" name="Google Shape;137;p20"/>
          <p:cNvCxnSpPr/>
          <p:nvPr/>
        </p:nvCxnSpPr>
        <p:spPr>
          <a:xfrm>
            <a:off x="4482350" y="1255050"/>
            <a:ext cx="0" cy="3526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>
            <a:spLocks noGrp="1"/>
          </p:cNvSpPr>
          <p:nvPr>
            <p:ph type="title"/>
          </p:nvPr>
        </p:nvSpPr>
        <p:spPr>
          <a:xfrm>
            <a:off x="727650" y="5359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How to improve data collection in the future</a:t>
            </a:r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body" idx="1"/>
          </p:nvPr>
        </p:nvSpPr>
        <p:spPr>
          <a:xfrm>
            <a:off x="286050" y="1409075"/>
            <a:ext cx="8571900" cy="32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 dirty="0"/>
              <a:t>The </a:t>
            </a:r>
            <a:r>
              <a:rPr lang="de" sz="1500" dirty="0" err="1"/>
              <a:t>data</a:t>
            </a:r>
            <a:r>
              <a:rPr lang="de" sz="1500" dirty="0"/>
              <a:t> </a:t>
            </a:r>
            <a:r>
              <a:rPr lang="de" sz="1500" dirty="0" err="1"/>
              <a:t>quality</a:t>
            </a:r>
            <a:r>
              <a:rPr lang="de" sz="1500" dirty="0"/>
              <a:t> was </a:t>
            </a:r>
            <a:r>
              <a:rPr lang="de" sz="1500" dirty="0" err="1">
                <a:solidFill>
                  <a:schemeClr val="accent3"/>
                </a:solidFill>
              </a:rPr>
              <a:t>compromised</a:t>
            </a:r>
            <a:r>
              <a:rPr lang="de" sz="1500" dirty="0"/>
              <a:t> in </a:t>
            </a:r>
            <a:r>
              <a:rPr lang="de" sz="1500" dirty="0" err="1"/>
              <a:t>several</a:t>
            </a:r>
            <a:r>
              <a:rPr lang="de" sz="1500" dirty="0"/>
              <a:t> </a:t>
            </a:r>
            <a:r>
              <a:rPr lang="de" sz="1500" dirty="0" err="1"/>
              <a:t>ways</a:t>
            </a:r>
            <a:r>
              <a:rPr lang="de" sz="1500" dirty="0"/>
              <a:t> </a:t>
            </a:r>
            <a:r>
              <a:rPr lang="de" sz="1500" dirty="0" err="1"/>
              <a:t>which</a:t>
            </a:r>
            <a:r>
              <a:rPr lang="de" sz="1500" dirty="0"/>
              <a:t> </a:t>
            </a:r>
            <a:r>
              <a:rPr lang="de" sz="1500" dirty="0" err="1"/>
              <a:t>affected</a:t>
            </a:r>
            <a:r>
              <a:rPr lang="de" sz="1500" dirty="0"/>
              <a:t> </a:t>
            </a:r>
            <a:r>
              <a:rPr lang="de" sz="1500" dirty="0" err="1"/>
              <a:t>every</a:t>
            </a:r>
            <a:r>
              <a:rPr lang="de" sz="1500" dirty="0"/>
              <a:t> </a:t>
            </a:r>
            <a:r>
              <a:rPr lang="de" sz="1500" dirty="0" err="1"/>
              <a:t>part</a:t>
            </a:r>
            <a:r>
              <a:rPr lang="de" sz="1500" dirty="0"/>
              <a:t> </a:t>
            </a:r>
            <a:r>
              <a:rPr lang="de" sz="1500" dirty="0" err="1"/>
              <a:t>of</a:t>
            </a:r>
            <a:r>
              <a:rPr lang="de" sz="1500" dirty="0"/>
              <a:t> </a:t>
            </a:r>
            <a:r>
              <a:rPr lang="de" sz="1500" dirty="0" err="1"/>
              <a:t>this</a:t>
            </a:r>
            <a:r>
              <a:rPr lang="de" sz="1500" dirty="0"/>
              <a:t> </a:t>
            </a:r>
            <a:r>
              <a:rPr lang="de" sz="1500" dirty="0" err="1"/>
              <a:t>analysis</a:t>
            </a:r>
            <a:r>
              <a:rPr lang="de" sz="1500" dirty="0"/>
              <a:t> 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 dirty="0"/>
              <a:t>BUT I was </a:t>
            </a:r>
            <a:r>
              <a:rPr lang="de" sz="1500" dirty="0" err="1"/>
              <a:t>able</a:t>
            </a:r>
            <a:r>
              <a:rPr lang="de" sz="1500" dirty="0"/>
              <a:t> </a:t>
            </a:r>
            <a:r>
              <a:rPr lang="de" sz="1500" dirty="0" err="1"/>
              <a:t>to</a:t>
            </a:r>
            <a:r>
              <a:rPr lang="de" sz="1500" dirty="0"/>
              <a:t> </a:t>
            </a:r>
            <a:r>
              <a:rPr lang="de" sz="1500" dirty="0" err="1"/>
              <a:t>analyse</a:t>
            </a:r>
            <a:r>
              <a:rPr lang="de" sz="1500" dirty="0"/>
              <a:t> </a:t>
            </a:r>
            <a:r>
              <a:rPr lang="de" sz="1500" dirty="0">
                <a:solidFill>
                  <a:schemeClr val="accent3"/>
                </a:solidFill>
              </a:rPr>
              <a:t>96%</a:t>
            </a:r>
            <a:r>
              <a:rPr lang="de" sz="1500" dirty="0"/>
              <a:t> </a:t>
            </a:r>
            <a:r>
              <a:rPr lang="de" sz="1500" dirty="0" err="1"/>
              <a:t>of</a:t>
            </a:r>
            <a:r>
              <a:rPr lang="de" sz="1500" dirty="0"/>
              <a:t> </a:t>
            </a:r>
            <a:r>
              <a:rPr lang="de" sz="1500" dirty="0" err="1"/>
              <a:t>the</a:t>
            </a:r>
            <a:r>
              <a:rPr lang="de" sz="1500" dirty="0"/>
              <a:t> </a:t>
            </a:r>
            <a:r>
              <a:rPr lang="de" sz="1500" dirty="0" err="1">
                <a:solidFill>
                  <a:schemeClr val="accent3"/>
                </a:solidFill>
              </a:rPr>
              <a:t>completed</a:t>
            </a:r>
            <a:r>
              <a:rPr lang="de" sz="1500" dirty="0"/>
              <a:t> </a:t>
            </a:r>
            <a:r>
              <a:rPr lang="de" sz="1500" dirty="0" err="1"/>
              <a:t>orders</a:t>
            </a:r>
            <a:r>
              <a:rPr lang="de" sz="1500" dirty="0"/>
              <a:t> in </a:t>
            </a:r>
            <a:r>
              <a:rPr lang="de" sz="1500" dirty="0" err="1"/>
              <a:t>the</a:t>
            </a:r>
            <a:r>
              <a:rPr lang="de" sz="1500" dirty="0"/>
              <a:t> </a:t>
            </a:r>
            <a:r>
              <a:rPr lang="de" sz="1500" dirty="0" err="1"/>
              <a:t>data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 dirty="0"/>
              <a:t>I </a:t>
            </a:r>
            <a:r>
              <a:rPr lang="de" sz="1500" dirty="0" err="1"/>
              <a:t>currently</a:t>
            </a:r>
            <a:r>
              <a:rPr lang="de" sz="1500" dirty="0"/>
              <a:t> </a:t>
            </a:r>
            <a:r>
              <a:rPr lang="de" sz="1500" dirty="0" err="1"/>
              <a:t>have</a:t>
            </a:r>
            <a:r>
              <a:rPr lang="de" sz="1500" dirty="0"/>
              <a:t> </a:t>
            </a:r>
            <a:r>
              <a:rPr lang="de" sz="1500" dirty="0" err="1"/>
              <a:t>no</a:t>
            </a:r>
            <a:r>
              <a:rPr lang="de" sz="1500" dirty="0"/>
              <a:t> </a:t>
            </a:r>
            <a:r>
              <a:rPr lang="de" sz="1500" dirty="0" err="1"/>
              <a:t>data</a:t>
            </a:r>
            <a:r>
              <a:rPr lang="de" sz="1500" dirty="0"/>
              <a:t> </a:t>
            </a:r>
            <a:r>
              <a:rPr lang="de" sz="1500" dirty="0" err="1"/>
              <a:t>regarding</a:t>
            </a:r>
            <a:r>
              <a:rPr lang="de" sz="1500" dirty="0"/>
              <a:t> </a:t>
            </a:r>
            <a:r>
              <a:rPr lang="de" sz="1500" dirty="0" err="1"/>
              <a:t>the</a:t>
            </a:r>
            <a:r>
              <a:rPr lang="de" sz="1500" dirty="0"/>
              <a:t> </a:t>
            </a:r>
            <a:r>
              <a:rPr lang="de" sz="1500" dirty="0" err="1">
                <a:solidFill>
                  <a:schemeClr val="accent3"/>
                </a:solidFill>
              </a:rPr>
              <a:t>profitability</a:t>
            </a:r>
            <a:r>
              <a:rPr lang="de" sz="1500" dirty="0"/>
              <a:t> </a:t>
            </a:r>
            <a:r>
              <a:rPr lang="de" sz="1500" dirty="0" err="1"/>
              <a:t>of</a:t>
            </a:r>
            <a:r>
              <a:rPr lang="de" sz="1500" dirty="0"/>
              <a:t> </a:t>
            </a:r>
            <a:r>
              <a:rPr lang="de" sz="1500" dirty="0" err="1"/>
              <a:t>discounts</a:t>
            </a:r>
            <a:r>
              <a:rPr lang="de" sz="1500" dirty="0"/>
              <a:t> </a:t>
            </a:r>
            <a:r>
              <a:rPr lang="de" sz="1500" dirty="0" err="1"/>
              <a:t>since</a:t>
            </a:r>
            <a:r>
              <a:rPr lang="de" sz="1500" dirty="0"/>
              <a:t> I do not </a:t>
            </a:r>
            <a:r>
              <a:rPr lang="de" sz="1500" dirty="0" err="1"/>
              <a:t>know</a:t>
            </a:r>
            <a:r>
              <a:rPr lang="de" sz="1500" dirty="0"/>
              <a:t> </a:t>
            </a:r>
            <a:r>
              <a:rPr lang="de" sz="1500" dirty="0" err="1"/>
              <a:t>the</a:t>
            </a:r>
            <a:r>
              <a:rPr lang="de" sz="1500" dirty="0"/>
              <a:t> </a:t>
            </a:r>
            <a:r>
              <a:rPr lang="de" sz="1500" dirty="0" err="1"/>
              <a:t>purchase</a:t>
            </a:r>
            <a:r>
              <a:rPr lang="de" sz="1500" dirty="0"/>
              <a:t> </a:t>
            </a:r>
            <a:r>
              <a:rPr lang="de" sz="1500" dirty="0" err="1"/>
              <a:t>price</a:t>
            </a:r>
            <a:r>
              <a:rPr lang="de" sz="1500" dirty="0"/>
              <a:t> </a:t>
            </a:r>
            <a:r>
              <a:rPr lang="de" sz="1500" dirty="0" err="1"/>
              <a:t>of</a:t>
            </a:r>
            <a:r>
              <a:rPr lang="de" sz="1500" dirty="0"/>
              <a:t> </a:t>
            </a:r>
            <a:r>
              <a:rPr lang="de" sz="1500" dirty="0" err="1"/>
              <a:t>products</a:t>
            </a:r>
            <a:r>
              <a:rPr lang="de" sz="1500" dirty="0"/>
              <a:t> </a:t>
            </a:r>
            <a:r>
              <a:rPr lang="de" sz="1500" dirty="0" err="1"/>
              <a:t>Eniac</a:t>
            </a:r>
            <a:r>
              <a:rPr lang="de" sz="1500" dirty="0"/>
              <a:t> </a:t>
            </a:r>
            <a:r>
              <a:rPr lang="de" sz="1500" dirty="0" err="1"/>
              <a:t>sells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 dirty="0"/>
              <a:t>The </a:t>
            </a:r>
            <a:r>
              <a:rPr lang="de" sz="1500" dirty="0" err="1">
                <a:solidFill>
                  <a:schemeClr val="accent3"/>
                </a:solidFill>
              </a:rPr>
              <a:t>prices</a:t>
            </a:r>
            <a:r>
              <a:rPr lang="de" sz="1500" dirty="0"/>
              <a:t> and </a:t>
            </a:r>
            <a:r>
              <a:rPr lang="de" sz="1500" dirty="0" err="1">
                <a:solidFill>
                  <a:schemeClr val="accent3"/>
                </a:solidFill>
              </a:rPr>
              <a:t>promo</a:t>
            </a:r>
            <a:r>
              <a:rPr lang="de" sz="1500" dirty="0">
                <a:solidFill>
                  <a:schemeClr val="accent3"/>
                </a:solidFill>
              </a:rPr>
              <a:t> </a:t>
            </a:r>
            <a:r>
              <a:rPr lang="de" sz="1500" dirty="0" err="1">
                <a:solidFill>
                  <a:schemeClr val="accent3"/>
                </a:solidFill>
              </a:rPr>
              <a:t>prices</a:t>
            </a:r>
            <a:r>
              <a:rPr lang="de" sz="1500" dirty="0"/>
              <a:t> </a:t>
            </a:r>
            <a:r>
              <a:rPr lang="de" sz="1500" dirty="0" err="1"/>
              <a:t>were</a:t>
            </a:r>
            <a:r>
              <a:rPr lang="de" sz="1500" dirty="0"/>
              <a:t> </a:t>
            </a:r>
            <a:r>
              <a:rPr lang="de" sz="1500" dirty="0" err="1">
                <a:solidFill>
                  <a:schemeClr val="accent3"/>
                </a:solidFill>
              </a:rPr>
              <a:t>heavily</a:t>
            </a:r>
            <a:r>
              <a:rPr lang="de" sz="1500" dirty="0">
                <a:solidFill>
                  <a:schemeClr val="accent3"/>
                </a:solidFill>
              </a:rPr>
              <a:t> </a:t>
            </a:r>
            <a:r>
              <a:rPr lang="de" sz="1500" dirty="0" err="1">
                <a:solidFill>
                  <a:schemeClr val="accent3"/>
                </a:solidFill>
              </a:rPr>
              <a:t>corrupted</a:t>
            </a:r>
            <a:r>
              <a:rPr lang="de" sz="1500" dirty="0"/>
              <a:t> and a </a:t>
            </a:r>
            <a:r>
              <a:rPr lang="de" sz="1500" dirty="0" err="1"/>
              <a:t>lot</a:t>
            </a:r>
            <a:r>
              <a:rPr lang="de" sz="1500" dirty="0"/>
              <a:t> </a:t>
            </a:r>
            <a:r>
              <a:rPr lang="de" sz="1500" dirty="0" err="1"/>
              <a:t>of</a:t>
            </a:r>
            <a:r>
              <a:rPr lang="de" sz="1500" dirty="0"/>
              <a:t> </a:t>
            </a:r>
            <a:r>
              <a:rPr lang="de" sz="1500" dirty="0" err="1"/>
              <a:t>data</a:t>
            </a:r>
            <a:r>
              <a:rPr lang="de" sz="1500" dirty="0"/>
              <a:t> </a:t>
            </a:r>
            <a:r>
              <a:rPr lang="de" sz="1500" dirty="0" err="1"/>
              <a:t>has</a:t>
            </a:r>
            <a:r>
              <a:rPr lang="de" sz="1500" dirty="0"/>
              <a:t> </a:t>
            </a:r>
            <a:r>
              <a:rPr lang="de" sz="1500" dirty="0" err="1"/>
              <a:t>been</a:t>
            </a:r>
            <a:r>
              <a:rPr lang="de" sz="1500" dirty="0"/>
              <a:t> lost </a:t>
            </a:r>
            <a:r>
              <a:rPr lang="de" sz="1500" dirty="0" err="1"/>
              <a:t>here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 dirty="0"/>
              <a:t>I </a:t>
            </a:r>
            <a:r>
              <a:rPr lang="de" sz="1500" dirty="0" err="1"/>
              <a:t>could</a:t>
            </a:r>
            <a:r>
              <a:rPr lang="de" sz="1500" dirty="0"/>
              <a:t> not </a:t>
            </a:r>
            <a:r>
              <a:rPr lang="de" sz="1500" dirty="0" err="1"/>
              <a:t>use</a:t>
            </a:r>
            <a:r>
              <a:rPr lang="de" sz="1500" dirty="0"/>
              <a:t> </a:t>
            </a:r>
            <a:r>
              <a:rPr lang="de" sz="1500" dirty="0" err="1">
                <a:solidFill>
                  <a:schemeClr val="accent3"/>
                </a:solidFill>
              </a:rPr>
              <a:t>uncompleted</a:t>
            </a:r>
            <a:r>
              <a:rPr lang="de" sz="1500" dirty="0"/>
              <a:t> </a:t>
            </a:r>
            <a:r>
              <a:rPr lang="de" sz="1500" dirty="0" err="1"/>
              <a:t>orders</a:t>
            </a:r>
            <a:r>
              <a:rPr lang="de" sz="1500" dirty="0"/>
              <a:t>, </a:t>
            </a:r>
            <a:r>
              <a:rPr lang="de" sz="1500" dirty="0" err="1"/>
              <a:t>which</a:t>
            </a:r>
            <a:r>
              <a:rPr lang="de" sz="1500" dirty="0"/>
              <a:t> </a:t>
            </a:r>
            <a:r>
              <a:rPr lang="de" sz="1500" dirty="0" err="1"/>
              <a:t>were</a:t>
            </a:r>
            <a:r>
              <a:rPr lang="de" sz="1500" dirty="0">
                <a:solidFill>
                  <a:schemeClr val="accent3"/>
                </a:solidFill>
              </a:rPr>
              <a:t> 80%</a:t>
            </a:r>
            <a:r>
              <a:rPr lang="de" sz="1500" dirty="0"/>
              <a:t> </a:t>
            </a:r>
            <a:r>
              <a:rPr lang="de" sz="1500" dirty="0" err="1"/>
              <a:t>of</a:t>
            </a:r>
            <a:r>
              <a:rPr lang="de" sz="1500" dirty="0"/>
              <a:t> </a:t>
            </a:r>
            <a:r>
              <a:rPr lang="de" sz="1500" dirty="0" err="1"/>
              <a:t>the</a:t>
            </a:r>
            <a:r>
              <a:rPr lang="de" sz="1500" dirty="0"/>
              <a:t> </a:t>
            </a:r>
            <a:r>
              <a:rPr lang="de" sz="1500" dirty="0" err="1"/>
              <a:t>entries</a:t>
            </a:r>
            <a:r>
              <a:rPr lang="de" sz="1500" dirty="0"/>
              <a:t> in </a:t>
            </a:r>
            <a:r>
              <a:rPr lang="de" sz="1500" dirty="0" err="1"/>
              <a:t>the</a:t>
            </a:r>
            <a:r>
              <a:rPr lang="de" sz="1500" dirty="0"/>
              <a:t> </a:t>
            </a:r>
            <a:r>
              <a:rPr lang="de" sz="1500" dirty="0" err="1"/>
              <a:t>database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de" sz="1500" dirty="0"/>
              <a:t>I </a:t>
            </a:r>
            <a:r>
              <a:rPr lang="de" sz="1500" dirty="0" err="1"/>
              <a:t>need</a:t>
            </a:r>
            <a:r>
              <a:rPr lang="de" sz="1500" dirty="0"/>
              <a:t> </a:t>
            </a:r>
            <a:r>
              <a:rPr lang="de" sz="1500" dirty="0" err="1"/>
              <a:t>more</a:t>
            </a:r>
            <a:r>
              <a:rPr lang="de" sz="1500" dirty="0"/>
              <a:t> </a:t>
            </a:r>
            <a:r>
              <a:rPr lang="de" sz="1500" dirty="0" err="1"/>
              <a:t>detailed</a:t>
            </a:r>
            <a:r>
              <a:rPr lang="de" sz="1500" dirty="0"/>
              <a:t> </a:t>
            </a:r>
            <a:r>
              <a:rPr lang="de" sz="1500" dirty="0" err="1">
                <a:solidFill>
                  <a:schemeClr val="accent3"/>
                </a:solidFill>
              </a:rPr>
              <a:t>user</a:t>
            </a:r>
            <a:r>
              <a:rPr lang="de" sz="1500" dirty="0">
                <a:solidFill>
                  <a:schemeClr val="accent3"/>
                </a:solidFill>
              </a:rPr>
              <a:t> </a:t>
            </a:r>
            <a:r>
              <a:rPr lang="de" sz="1500" dirty="0" err="1">
                <a:solidFill>
                  <a:schemeClr val="accent3"/>
                </a:solidFill>
              </a:rPr>
              <a:t>data</a:t>
            </a:r>
            <a:r>
              <a:rPr lang="de" sz="1500" dirty="0"/>
              <a:t> in </a:t>
            </a:r>
            <a:r>
              <a:rPr lang="de" sz="1500" dirty="0" err="1"/>
              <a:t>order</a:t>
            </a:r>
            <a:r>
              <a:rPr lang="de" sz="1500" dirty="0"/>
              <a:t> </a:t>
            </a:r>
            <a:r>
              <a:rPr lang="de" sz="1500" dirty="0" err="1"/>
              <a:t>to</a:t>
            </a:r>
            <a:r>
              <a:rPr lang="de" sz="1500" dirty="0"/>
              <a:t> check </a:t>
            </a:r>
            <a:r>
              <a:rPr lang="de" sz="1500" dirty="0" err="1"/>
              <a:t>for</a:t>
            </a:r>
            <a:r>
              <a:rPr lang="de" sz="1500" dirty="0"/>
              <a:t> </a:t>
            </a:r>
            <a:r>
              <a:rPr lang="de" sz="1500" dirty="0" err="1"/>
              <a:t>customer</a:t>
            </a:r>
            <a:r>
              <a:rPr lang="de" sz="1500" dirty="0"/>
              <a:t> </a:t>
            </a:r>
            <a:r>
              <a:rPr lang="de" sz="1500" dirty="0" err="1">
                <a:solidFill>
                  <a:schemeClr val="accent3"/>
                </a:solidFill>
              </a:rPr>
              <a:t>acquisition</a:t>
            </a:r>
            <a:r>
              <a:rPr lang="de" sz="1500" dirty="0"/>
              <a:t>, </a:t>
            </a:r>
            <a:r>
              <a:rPr lang="de" sz="1500" dirty="0" err="1">
                <a:solidFill>
                  <a:schemeClr val="accent3"/>
                </a:solidFill>
              </a:rPr>
              <a:t>retention</a:t>
            </a:r>
            <a:r>
              <a:rPr lang="de" sz="1500" dirty="0">
                <a:solidFill>
                  <a:schemeClr val="accent3"/>
                </a:solidFill>
              </a:rPr>
              <a:t> </a:t>
            </a:r>
            <a:r>
              <a:rPr lang="de" sz="1500" dirty="0"/>
              <a:t>and </a:t>
            </a:r>
            <a:r>
              <a:rPr lang="de" sz="1500" dirty="0" err="1"/>
              <a:t>discount</a:t>
            </a:r>
            <a:r>
              <a:rPr lang="de" sz="1500" dirty="0"/>
              <a:t> </a:t>
            </a:r>
            <a:r>
              <a:rPr lang="de" sz="1500" dirty="0" err="1"/>
              <a:t>usage</a:t>
            </a:r>
            <a:r>
              <a:rPr lang="de" sz="1500" dirty="0"/>
              <a:t> </a:t>
            </a:r>
            <a:r>
              <a:rPr lang="de" sz="1500" dirty="0" err="1"/>
              <a:t>data</a:t>
            </a:r>
            <a:r>
              <a:rPr lang="de" sz="1500" dirty="0"/>
              <a:t>. In </a:t>
            </a:r>
            <a:r>
              <a:rPr lang="de" sz="1500" dirty="0" err="1"/>
              <a:t>order</a:t>
            </a:r>
            <a:r>
              <a:rPr lang="de" sz="1500" dirty="0"/>
              <a:t> </a:t>
            </a:r>
            <a:r>
              <a:rPr lang="de" sz="1500" dirty="0" err="1"/>
              <a:t>to</a:t>
            </a:r>
            <a:r>
              <a:rPr lang="de" sz="1500" dirty="0"/>
              <a:t> </a:t>
            </a:r>
            <a:r>
              <a:rPr lang="de" sz="1500" dirty="0" err="1"/>
              <a:t>analyze</a:t>
            </a:r>
            <a:r>
              <a:rPr lang="de" sz="1500" dirty="0"/>
              <a:t> </a:t>
            </a:r>
            <a:r>
              <a:rPr lang="de" sz="1500" dirty="0" err="1"/>
              <a:t>the</a:t>
            </a:r>
            <a:r>
              <a:rPr lang="de" sz="1500" dirty="0"/>
              <a:t> </a:t>
            </a:r>
            <a:r>
              <a:rPr lang="de" sz="1500" dirty="0" err="1">
                <a:solidFill>
                  <a:schemeClr val="accent3"/>
                </a:solidFill>
              </a:rPr>
              <a:t>success</a:t>
            </a:r>
            <a:r>
              <a:rPr lang="de" sz="1500" dirty="0">
                <a:solidFill>
                  <a:schemeClr val="accent3"/>
                </a:solidFill>
              </a:rPr>
              <a:t> </a:t>
            </a:r>
            <a:r>
              <a:rPr lang="de" sz="1500" dirty="0" err="1"/>
              <a:t>of</a:t>
            </a:r>
            <a:r>
              <a:rPr lang="de" sz="1500" dirty="0"/>
              <a:t> </a:t>
            </a:r>
            <a:r>
              <a:rPr lang="de" sz="1500" dirty="0" err="1"/>
              <a:t>future</a:t>
            </a:r>
            <a:r>
              <a:rPr lang="de" sz="1500" dirty="0"/>
              <a:t> </a:t>
            </a:r>
            <a:r>
              <a:rPr lang="de" sz="1500" dirty="0" err="1"/>
              <a:t>strategy</a:t>
            </a:r>
            <a:r>
              <a:rPr lang="de" sz="1500" dirty="0"/>
              <a:t> </a:t>
            </a:r>
            <a:r>
              <a:rPr lang="de" sz="1500" dirty="0" err="1"/>
              <a:t>changes</a:t>
            </a:r>
            <a:r>
              <a:rPr lang="de" sz="1500" dirty="0"/>
              <a:t>, </a:t>
            </a:r>
            <a:r>
              <a:rPr lang="de" sz="1500" dirty="0" err="1"/>
              <a:t>this</a:t>
            </a:r>
            <a:r>
              <a:rPr lang="de" sz="1500" dirty="0"/>
              <a:t> </a:t>
            </a:r>
            <a:r>
              <a:rPr lang="de" sz="1500" dirty="0" err="1"/>
              <a:t>has</a:t>
            </a:r>
            <a:r>
              <a:rPr lang="de" sz="1500" dirty="0"/>
              <a:t> </a:t>
            </a:r>
            <a:r>
              <a:rPr lang="de" sz="1500" dirty="0" err="1"/>
              <a:t>to</a:t>
            </a:r>
            <a:r>
              <a:rPr lang="de" sz="1500" dirty="0"/>
              <a:t> </a:t>
            </a:r>
            <a:r>
              <a:rPr lang="de" sz="1500" dirty="0" err="1"/>
              <a:t>be</a:t>
            </a:r>
            <a:r>
              <a:rPr lang="de" sz="1500" dirty="0"/>
              <a:t> </a:t>
            </a:r>
            <a:r>
              <a:rPr lang="de" sz="1500" dirty="0" err="1"/>
              <a:t>implemented</a:t>
            </a:r>
            <a:r>
              <a:rPr lang="de" sz="1500" dirty="0"/>
              <a:t> </a:t>
            </a:r>
            <a:r>
              <a:rPr lang="de" sz="1500" dirty="0" err="1">
                <a:solidFill>
                  <a:schemeClr val="accent3"/>
                </a:solidFill>
              </a:rPr>
              <a:t>immediately</a:t>
            </a:r>
            <a:endParaRPr sz="15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>
            <a:spLocks noGrp="1"/>
          </p:cNvSpPr>
          <p:nvPr>
            <p:ph type="ctrTitle"/>
          </p:nvPr>
        </p:nvSpPr>
        <p:spPr>
          <a:xfrm>
            <a:off x="824000" y="1233425"/>
            <a:ext cx="6244500" cy="22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Thank you for your attention.</a:t>
            </a:r>
            <a:endParaRPr/>
          </a:p>
        </p:txBody>
      </p:sp>
      <p:sp>
        <p:nvSpPr>
          <p:cNvPr id="149" name="Google Shape;149;p2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An Analysis by Erick, Justice, Marco, Mariusz and Yannick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>
            <a:spLocks noGrp="1"/>
          </p:cNvSpPr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Accessories and smaller products fill out our range</a:t>
            </a:r>
            <a:endParaRPr/>
          </a:p>
        </p:txBody>
      </p:sp>
      <p:pic>
        <p:nvPicPr>
          <p:cNvPr id="155" name="Google Shape;15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38" y="535200"/>
            <a:ext cx="8931125" cy="445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>
            <a:spLocks noGrp="1"/>
          </p:cNvSpPr>
          <p:nvPr>
            <p:ph type="title"/>
          </p:nvPr>
        </p:nvSpPr>
        <p:spPr>
          <a:xfrm>
            <a:off x="727650" y="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Top sellers</a:t>
            </a:r>
            <a:endParaRPr/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475" y="535200"/>
            <a:ext cx="7135804" cy="445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xfrm>
            <a:off x="477450" y="0"/>
            <a:ext cx="8192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Lower price categories are ideal for discounts and sales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8" name="Google Shape;168;p25" title="Weekly_revenue_x_avg_discount_by_category.png"/>
          <p:cNvPicPr preferRelativeResize="0"/>
          <p:nvPr/>
        </p:nvPicPr>
        <p:blipFill rotWithShape="1">
          <a:blip r:embed="rId3">
            <a:alphaModFix/>
          </a:blip>
          <a:srcRect l="50000" t="19589" b="59581"/>
          <a:stretch/>
        </p:blipFill>
        <p:spPr>
          <a:xfrm>
            <a:off x="91000" y="799876"/>
            <a:ext cx="8962002" cy="373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4" name="Google Shape;174;p26" title="Weekly_revenue_x_avg_discount_by_category.png"/>
          <p:cNvPicPr preferRelativeResize="0"/>
          <p:nvPr/>
        </p:nvPicPr>
        <p:blipFill rotWithShape="1">
          <a:blip r:embed="rId3">
            <a:alphaModFix/>
          </a:blip>
          <a:srcRect r="784" b="59583"/>
          <a:stretch/>
        </p:blipFill>
        <p:spPr>
          <a:xfrm>
            <a:off x="109650" y="606225"/>
            <a:ext cx="8928302" cy="363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1" name="Google Shape;181;p27" title="Weekly_revenue_x_avg_discount_by_category.png"/>
          <p:cNvPicPr preferRelativeResize="0"/>
          <p:nvPr/>
        </p:nvPicPr>
        <p:blipFill rotWithShape="1">
          <a:blip r:embed="rId3">
            <a:alphaModFix/>
          </a:blip>
          <a:srcRect t="39010"/>
          <a:stretch/>
        </p:blipFill>
        <p:spPr>
          <a:xfrm>
            <a:off x="426400" y="92875"/>
            <a:ext cx="8128502" cy="4957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88" name="Google Shape;188;p28" title="Weekly_sales_x_avg_discount_by_category.png"/>
          <p:cNvPicPr preferRelativeResize="0"/>
          <p:nvPr/>
        </p:nvPicPr>
        <p:blipFill rotWithShape="1">
          <a:blip r:embed="rId3">
            <a:alphaModFix/>
          </a:blip>
          <a:srcRect b="59583"/>
          <a:stretch/>
        </p:blipFill>
        <p:spPr>
          <a:xfrm>
            <a:off x="0" y="503725"/>
            <a:ext cx="9143997" cy="36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5" name="Google Shape;195;p29" title="Weekly_rev_item_x_avg_discount.png"/>
          <p:cNvPicPr preferRelativeResize="0"/>
          <p:nvPr/>
        </p:nvPicPr>
        <p:blipFill rotWithShape="1">
          <a:blip r:embed="rId3">
            <a:alphaModFix/>
          </a:blip>
          <a:srcRect b="59583"/>
          <a:stretch/>
        </p:blipFill>
        <p:spPr>
          <a:xfrm>
            <a:off x="42688" y="740388"/>
            <a:ext cx="9062226" cy="36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0" title="Price_recommended_x_price_sol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266" y="0"/>
            <a:ext cx="667546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>
            <a:spLocks noGrp="1"/>
          </p:cNvSpPr>
          <p:nvPr>
            <p:ph type="title"/>
          </p:nvPr>
        </p:nvSpPr>
        <p:spPr>
          <a:xfrm>
            <a:off x="727650" y="486725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Product categorisation</a:t>
            </a:r>
            <a:endParaRPr/>
          </a:p>
        </p:txBody>
      </p:sp>
      <p:sp>
        <p:nvSpPr>
          <p:cNvPr id="206" name="Google Shape;206;p31"/>
          <p:cNvSpPr txBox="1">
            <a:spLocks noGrp="1"/>
          </p:cNvSpPr>
          <p:nvPr>
            <p:ph type="body" idx="1"/>
          </p:nvPr>
        </p:nvSpPr>
        <p:spPr>
          <a:xfrm>
            <a:off x="727650" y="1372525"/>
            <a:ext cx="7688700" cy="29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Classification by type (current):</a:t>
            </a:r>
            <a:endParaRPr/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Top 9 types = 50% of products (50% would have to be considered as "Others')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Top 14 types = 60% of products (40% would have to be considered as "Others")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Top 21 types = 70% of products (30% would have to be considered as "Others")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Top 32 types = 80% of products (20% would have to be considered as "Others")</a:t>
            </a:r>
            <a:endParaRPr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de"/>
              <a:t>Top 52 types = 90% of products (10% would have to be considered as "Others")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</Words>
  <Application>Microsoft Macintosh PowerPoint</Application>
  <PresentationFormat>Bildschirmpräsentation (16:9)</PresentationFormat>
  <Paragraphs>43</Paragraphs>
  <Slides>19</Slides>
  <Notes>19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3" baseType="lpstr">
      <vt:lpstr>Lato</vt:lpstr>
      <vt:lpstr>Arial</vt:lpstr>
      <vt:lpstr>Raleway</vt:lpstr>
      <vt:lpstr>Streamline</vt:lpstr>
      <vt:lpstr>Eniac - Discount Strategy Impact Analysis    A new discount strategy for the future</vt:lpstr>
      <vt:lpstr>My findings</vt:lpstr>
      <vt:lpstr>Current strategy shows no strong correlation between discounts and revenue</vt:lpstr>
      <vt:lpstr>Seasonal Discounts have a huge potential for user growth</vt:lpstr>
      <vt:lpstr>The main revenue driver is premium Apple products</vt:lpstr>
      <vt:lpstr>Premium products do not need high discounts</vt:lpstr>
      <vt:lpstr>Lower price categories are ideal for discounts and sales</vt:lpstr>
      <vt:lpstr>Suggesting a new discount strategy for ENIAC</vt:lpstr>
      <vt:lpstr>How to improve data collection in the future</vt:lpstr>
      <vt:lpstr>Thank you for your attention.</vt:lpstr>
      <vt:lpstr>Accessories and smaller products fill out our range</vt:lpstr>
      <vt:lpstr>Top sellers</vt:lpstr>
      <vt:lpstr>Lower price categories are ideal for discounts and sales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Product categorisation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FON Yannick</cp:lastModifiedBy>
  <cp:revision>3</cp:revision>
  <dcterms:modified xsi:type="dcterms:W3CDTF">2026-03-09T17:08:50Z</dcterms:modified>
</cp:coreProperties>
</file>